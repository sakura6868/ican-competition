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a86c542944b91" /><Relationship Type="http://schemas.openxmlformats.org/officeDocument/2006/relationships/extended-properties" Target="/docProps/app.xml" Id="Rbd09d3e2d9394c8e" /><Relationship Type="http://schemas.openxmlformats.org/officeDocument/2006/relationships/officeDocument" Target="/ppt/presentation.xml" Id="R7cc9a02a2443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8dede2bda14d45"/>
  </p:sldMasterIdLst>
  <p:notesMasterIdLst>
    <p:notesMasterId xmlns:r="http://schemas.openxmlformats.org/officeDocument/2006/relationships" r:id="R5f07aef2f267479d"/>
  </p:notesMasterIdLst>
  <p:sldIdLst>
    <p:sldId xmlns:r="http://schemas.openxmlformats.org/officeDocument/2006/relationships" id="256" r:id="R76ae6b8b29704f1c"/>
    <p:sldId xmlns:r="http://schemas.openxmlformats.org/officeDocument/2006/relationships" id="257" r:id="R02dd5096ad754210"/>
    <p:sldId xmlns:r="http://schemas.openxmlformats.org/officeDocument/2006/relationships" id="258" r:id="Rf6f3d84fc4834563"/>
    <p:sldId xmlns:r="http://schemas.openxmlformats.org/officeDocument/2006/relationships" id="259" r:id="R09588f7ec1e74d67"/>
    <p:sldId xmlns:r="http://schemas.openxmlformats.org/officeDocument/2006/relationships" id="260" r:id="Rda5b9892cc114743"/>
    <p:sldId xmlns:r="http://schemas.openxmlformats.org/officeDocument/2006/relationships" id="261" r:id="Rd816ccb9dd414e80"/>
    <p:sldId xmlns:r="http://schemas.openxmlformats.org/officeDocument/2006/relationships" id="262" r:id="Ra66850016a834262"/>
    <p:sldId xmlns:r="http://schemas.openxmlformats.org/officeDocument/2006/relationships" id="263" r:id="R16d34ec02d8d4315"/>
    <p:sldId xmlns:r="http://schemas.openxmlformats.org/officeDocument/2006/relationships" id="264" r:id="R49d4011d3c7544c9"/>
    <p:sldId xmlns:r="http://schemas.openxmlformats.org/officeDocument/2006/relationships" id="265" r:id="Rbfc32a6d1bde4806"/>
    <p:sldId xmlns:r="http://schemas.openxmlformats.org/officeDocument/2006/relationships" id="266" r:id="R227e43388f754156"/>
    <p:sldId xmlns:r="http://schemas.openxmlformats.org/officeDocument/2006/relationships" id="267" r:id="Rd100333a28de4e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183ea73f51496c" /><Relationship Type="http://schemas.openxmlformats.org/officeDocument/2006/relationships/slideMaster" Target="/ppt/slideMasters/slideMaster1.xml" Id="Rfc8dede2bda14d45" /><Relationship Type="http://schemas.openxmlformats.org/officeDocument/2006/relationships/notesMaster" Target="/ppt/notesMasters/notesMaster1.xml" Id="R5f07aef2f267479d" /><Relationship Type="http://schemas.openxmlformats.org/officeDocument/2006/relationships/presProps" Target="/ppt/presProps.xml" Id="Rd8e0ff458b284bda" /><Relationship Type="http://schemas.openxmlformats.org/officeDocument/2006/relationships/tableStyles" Target="/ppt/tableStyles.xml" Id="R1d4eaecb5a6346e5" /><Relationship Type="http://schemas.openxmlformats.org/officeDocument/2006/relationships/slide" Target="/ppt/slides/slide1.xml" Id="R76ae6b8b29704f1c" /><Relationship Type="http://schemas.openxmlformats.org/officeDocument/2006/relationships/slide" Target="/ppt/slides/slide2.xml" Id="R02dd5096ad754210" /><Relationship Type="http://schemas.openxmlformats.org/officeDocument/2006/relationships/slide" Target="/ppt/slides/slide3.xml" Id="Rf6f3d84fc4834563" /><Relationship Type="http://schemas.openxmlformats.org/officeDocument/2006/relationships/slide" Target="/ppt/slides/slide4.xml" Id="R09588f7ec1e74d67" /><Relationship Type="http://schemas.openxmlformats.org/officeDocument/2006/relationships/slide" Target="/ppt/slides/slide5.xml" Id="Rda5b9892cc114743" /><Relationship Type="http://schemas.openxmlformats.org/officeDocument/2006/relationships/slide" Target="/ppt/slides/slide6.xml" Id="Rd816ccb9dd414e80" /><Relationship Type="http://schemas.openxmlformats.org/officeDocument/2006/relationships/slide" Target="/ppt/slides/slide7.xml" Id="Ra66850016a834262" /><Relationship Type="http://schemas.openxmlformats.org/officeDocument/2006/relationships/slide" Target="/ppt/slides/slide8.xml" Id="R16d34ec02d8d4315" /><Relationship Type="http://schemas.openxmlformats.org/officeDocument/2006/relationships/slide" Target="/ppt/slides/slide9.xml" Id="R49d4011d3c7544c9" /><Relationship Type="http://schemas.openxmlformats.org/officeDocument/2006/relationships/slide" Target="/ppt/slides/slide10.xml" Id="Rbfc32a6d1bde4806" /><Relationship Type="http://schemas.openxmlformats.org/officeDocument/2006/relationships/slide" Target="/ppt/slides/slide11.xml" Id="R227e43388f754156" /><Relationship Type="http://schemas.openxmlformats.org/officeDocument/2006/relationships/slide" Target="/ppt/slides/slide12.xml" Id="Rd100333a28de4e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a8d0e9be1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77940cfd9a45b8" /><Relationship Type="http://schemas.openxmlformats.org/officeDocument/2006/relationships/notesMaster" Target="/ppt/notesMasters/notesMaster1.xml" Id="Re556d08715764a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911db23a54cab" /><Relationship Type="http://schemas.openxmlformats.org/officeDocument/2006/relationships/notesMaster" Target="/ppt/notesMasters/notesMaster1.xml" Id="R6990d79d512c46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f6badcab34dbf" /><Relationship Type="http://schemas.openxmlformats.org/officeDocument/2006/relationships/notesMaster" Target="/ppt/notesMasters/notesMaster1.xml" Id="Rb823ff19d6d343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acfca30b374fb6" /><Relationship Type="http://schemas.openxmlformats.org/officeDocument/2006/relationships/notesMaster" Target="/ppt/notesMasters/notesMaster1.xml" Id="R121c23459cf5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e0c458f09c43fb" /><Relationship Type="http://schemas.openxmlformats.org/officeDocument/2006/relationships/notesMaster" Target="/ppt/notesMasters/notesMaster1.xml" Id="R0b46cb61893d49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2abf89dba54ce3" /><Relationship Type="http://schemas.openxmlformats.org/officeDocument/2006/relationships/notesMaster" Target="/ppt/notesMasters/notesMaster1.xml" Id="R769dec633b574c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8d28c722d14512" /><Relationship Type="http://schemas.openxmlformats.org/officeDocument/2006/relationships/notesMaster" Target="/ppt/notesMasters/notesMaster1.xml" Id="Rc1437855d42a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f6d1de19374eb8" /><Relationship Type="http://schemas.openxmlformats.org/officeDocument/2006/relationships/notesMaster" Target="/ppt/notesMasters/notesMaster1.xml" Id="Rfec965b93cdd46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636d2f239f4d16" /><Relationship Type="http://schemas.openxmlformats.org/officeDocument/2006/relationships/notesMaster" Target="/ppt/notesMasters/notesMaster1.xml" Id="R69d43f05bbfc4d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64555b774947dc" /><Relationship Type="http://schemas.openxmlformats.org/officeDocument/2006/relationships/notesMaster" Target="/ppt/notesMasters/notesMaster1.xml" Id="R4e603f3b6d364c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f8403fc9304132" /><Relationship Type="http://schemas.openxmlformats.org/officeDocument/2006/relationships/notesMaster" Target="/ppt/notesMasters/notesMaster1.xml" Id="R30e05d3eef7c4f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3e89e9668949bd" /><Relationship Type="http://schemas.openxmlformats.org/officeDocument/2006/relationships/notesMaster" Target="/ppt/notesMasters/notesMaster1.xml" Id="Refc37707e6ff43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55f409f2642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b0154e5d64a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9628a9e884b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216f5362a44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b0b0e1dbe4f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ca815f7544c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21C1B9-A29A-49E3-849E-D68ACAA3CF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0B8D85-9600-45B4-A714-DB0A770BBF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9BCDFF-37D5-4A11-B787-B48368E2D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B2C5EE-4602-48BC-BD4D-23F7189137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4FA419-AE3D-4CE0-A0F8-57AACA418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8EF688-A4D9-489A-9E61-94E2BE984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AE9B92-81B3-4D73-9F63-49AD3C0BEB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9BE15F-071F-4FDD-A595-9BBF2456BB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9645AB-DD84-4633-B06F-DA8DD3336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EE635D-BC2E-43FB-96E0-1628306940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199ebe9204b0f" /><Relationship Type="http://schemas.openxmlformats.org/officeDocument/2006/relationships/slideLayout" Target="/ppt/slideLayouts/slideLayout1.xml" Id="R8b8d218a96714bbc" /><Relationship Type="http://schemas.openxmlformats.org/officeDocument/2006/relationships/slideLayout" Target="/ppt/slideLayouts/slideLayout2.xml" Id="R6c4422c13e9a43e3" /><Relationship Type="http://schemas.openxmlformats.org/officeDocument/2006/relationships/slideLayout" Target="/ppt/slideLayouts/slideLayout3.xml" Id="Re43c43cddc6840fc" /><Relationship Type="http://schemas.openxmlformats.org/officeDocument/2006/relationships/slideLayout" Target="/ppt/slideLayouts/slideLayout4.xml" Id="Rdd9a45012f5942dc" /><Relationship Type="http://schemas.openxmlformats.org/officeDocument/2006/relationships/slideLayout" Target="/ppt/slideLayouts/slideLayout5.xml" Id="R31308a0e9ff74514" /><Relationship Type="http://schemas.openxmlformats.org/officeDocument/2006/relationships/slideLayout" Target="/ppt/slideLayouts/slideLayout6.xml" Id="Ree784643e72c45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d218a96714bbc"/>
    <p:sldLayoutId xmlns:r="http://schemas.openxmlformats.org/officeDocument/2006/relationships" id="2147483650" r:id="R6c4422c13e9a43e3"/>
    <p:sldLayoutId xmlns:r="http://schemas.openxmlformats.org/officeDocument/2006/relationships" id="2147483651" r:id="Re43c43cddc6840fc"/>
    <p:sldLayoutId xmlns:r="http://schemas.openxmlformats.org/officeDocument/2006/relationships" id="2147483652" r:id="Rdd9a45012f5942dc"/>
    <p:sldLayoutId xmlns:r="http://schemas.openxmlformats.org/officeDocument/2006/relationships" id="2147483653" r:id="R31308a0e9ff74514"/>
    <p:sldLayoutId xmlns:r="http://schemas.openxmlformats.org/officeDocument/2006/relationships" id="2147483654" r:id="Ree784643e72c45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239ce8ad34000" /><Relationship Type="http://schemas.openxmlformats.org/officeDocument/2006/relationships/notesSlide" Target="/ppt/notesSlides/notesSlide1.xml" Id="R04f1eb36036a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ad922953343c9" /><Relationship Type="http://schemas.openxmlformats.org/officeDocument/2006/relationships/notesSlide" Target="/ppt/notesSlides/notesSlide2.xml" Id="R0ceceeddacdf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31a94c3f447b7" /><Relationship Type="http://schemas.openxmlformats.org/officeDocument/2006/relationships/notesSlide" Target="/ppt/notesSlides/notesSlide3.xml" Id="R36f9ebf806ad43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98a091ccd4318" /><Relationship Type="http://schemas.openxmlformats.org/officeDocument/2006/relationships/notesSlide" Target="/ppt/notesSlides/notesSlide4.xml" Id="Red2c9fe20e254f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d0e865d6b4f50" /><Relationship Type="http://schemas.openxmlformats.org/officeDocument/2006/relationships/notesSlide" Target="/ppt/notesSlides/notesSlide5.xml" Id="R94cbfb5ebf8a4e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061ac807d4120" /><Relationship Type="http://schemas.openxmlformats.org/officeDocument/2006/relationships/notesSlide" Target="/ppt/notesSlides/notesSlide6.xml" Id="R59ce250e01ed4a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b80697fba4933" /><Relationship Type="http://schemas.openxmlformats.org/officeDocument/2006/relationships/image" Target="/ppt/media/image.png" Id="R93376e0ab05b498b" /><Relationship Type="http://schemas.openxmlformats.org/officeDocument/2006/relationships/notesSlide" Target="/ppt/notesSlides/notesSlide7.xml" Id="R225b430b70e148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73c1916cf43e8" /><Relationship Type="http://schemas.openxmlformats.org/officeDocument/2006/relationships/image" Target="/ppt/media/image2.png" Id="R87f7066b88084f9d" /><Relationship Type="http://schemas.openxmlformats.org/officeDocument/2006/relationships/image" Target="/ppt/media/image3.png" Id="R50a7181b734541ff" /><Relationship Type="http://schemas.openxmlformats.org/officeDocument/2006/relationships/notesSlide" Target="/ppt/notesSlides/notesSlide8.xml" Id="R809cd96854cf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394876bd043a7" /><Relationship Type="http://schemas.openxmlformats.org/officeDocument/2006/relationships/notesSlide" Target="/ppt/notesSlides/notesSlide9.xml" Id="Ra41f941c0ef443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746673979436e" /><Relationship Type="http://schemas.openxmlformats.org/officeDocument/2006/relationships/notesSlide" Target="/ppt/notesSlides/notesSlide10.xml" Id="Rd4b52bf4b14e4c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04a70741c4b05" /><Relationship Type="http://schemas.openxmlformats.org/officeDocument/2006/relationships/notesSlide" Target="/ppt/notesSlides/notesSlide11.xml" Id="Ra8c31fa336dd47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5f0a6b5154995" /><Relationship Type="http://schemas.openxmlformats.org/officeDocument/2006/relationships/notesSlide" Target="/ppt/notesSlides/notesSlide12.xml" Id="R9f3095becd5041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F1BB6-C0A2-4D9B-9F7A-0865035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6C896-F2AC-4F8D-8CFC-8BE1C59E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EF7AE-8615-4E04-BEC6-A3A2B01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D4B8-7436-4FA7-BAC1-70D64447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F932-6734-496A-AFE2-4C00F6B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BC6D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BC6D8"/>
                </a:solidFill>
              </a:defRPr>
            </a:pPr>
            <a:r>
              <a:rPr sz="1125" b="1">
                <a:solidFill>
                  <a:srgbClr val="BBC6D8"/>
                </a:solidFill>
              </a:rPr>
              <a:t>iCAN 大学生创新创业大赛 · 智慧教育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16AFD-6E6C-4360-B850-FDDA0119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工序智传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788E-DDE7-4925-9E08-16763B8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把一段教学视频，变成一条</a:t>
            </a:r>
          </a:p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会判断、会纠错、会推进的学习路径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40950-6125-4AAB-B960-43502F8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9E2EF-E852-44D3-80EE-50EC2AC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教学视频 → 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C5EF5-919E-412A-83E6-1189FCCE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863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AC857-1BC0-4579-ABEA-BC3EAACA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实时步骤核验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CC04A-F242-4D33-AC07-B7824FAF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863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522E0-E5F0-4C45-A71E-722F38DB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5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教师学情闭环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06475-17EB-4FEA-A302-5C6A656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4C8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9B4C8"/>
                </a:solidFill>
              </a:defRPr>
            </a:pPr>
            <a:r>
              <a:rPr sz="1200" b="0">
                <a:solidFill>
                  <a:srgbClr val="A9B4C8"/>
                </a:solidFill>
              </a:rPr>
              <a:t>桌面网页端原型 · 可部署演示版 ·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B9B4F-0103-40D9-89AE-52C6E7C0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A9B4C8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A9B4C8"/>
                </a:solidFill>
              </a:defRPr>
            </a:pPr>
            <a:r>
              <a:rPr sz="900" b="1">
                <a:solidFill>
                  <a:srgbClr val="A9B4C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4196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7CB3C-2E7E-4FAF-BE25-EFE3EC3B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87969-87AA-4489-89E4-CC6471F3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 / 教育问题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17CFC-9526-4D7C-9714-BDA8E14A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B70D7-1B87-4ACC-ACC1-6FFC1881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视频能示范，却很难陪学生练到会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B6CDC-24DB-4482-9311-FA62204F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技能学习缺少的是操作过程中的即时判断，而不是更多播放按钮。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3F7AE-54F1-4CE7-8752-13E38DF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E85A4F"/>
                </a:solidFill>
              </a:defRPr>
            </a:pPr>
            <a:r>
              <a:rPr sz="5100" b="1">
                <a:solidFill>
                  <a:srgbClr val="E85A4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18713-856F-421E-B1FA-A549714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90E75-EF30-4275-B6A7-10FEB83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23B"/>
                </a:solidFill>
              </a:defRPr>
            </a:pPr>
            <a:r>
              <a:rPr sz="1725" b="1">
                <a:solidFill>
                  <a:srgbClr val="17223B"/>
                </a:solidFill>
              </a:rPr>
              <a:t>教师制作成本高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45E88-5269-4294-A4DD-D990989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逐帧拆步骤、写条件、配素材，通常要重复劳动。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B791B-EFA6-45DE-B432-92B5FBD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907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2A6A1"/>
                </a:solidFill>
              </a:defRPr>
            </a:pPr>
            <a:r>
              <a:rPr sz="5100" b="1">
                <a:solidFill>
                  <a:srgbClr val="22A6A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CC6AC-5F71-4ECF-BD5A-D1951DA4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459D5-C0FA-4F5E-B85E-7C9DCED2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52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23B"/>
                </a:solidFill>
              </a:defRPr>
            </a:pPr>
            <a:r>
              <a:rPr sz="1725" b="1">
                <a:solidFill>
                  <a:srgbClr val="17223B"/>
                </a:solidFill>
              </a:rPr>
              <a:t>学生卡住没人知道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B0BFE-5341-4F99-B7E8-AF0FE53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8620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同一段视频反复看，错误动作仍可能被带到下一步。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CFFA6-740E-4BA6-AB4E-3B17E2B4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2C14E"/>
                </a:solidFill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2C14E"/>
                </a:solidFill>
              </a:defRPr>
            </a:pPr>
            <a:r>
              <a:rPr sz="5100" b="1">
                <a:solidFill>
                  <a:srgbClr val="F2C14E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D960C-35B6-4EED-916C-2802EFD2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257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B7A27-9B21-4D62-BF30-B0980EEA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23B"/>
                </a:solidFill>
              </a:defRPr>
            </a:pPr>
            <a:r>
              <a:rPr sz="1725" b="1">
                <a:solidFill>
                  <a:srgbClr val="17223B"/>
                </a:solidFill>
              </a:rPr>
              <a:t>结果评价来得太晚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B3511-F1A0-4093-8984-DFD1BC47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8620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只看成品或期末成绩，无法定位具体薄弱工序。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53206-B0C3-42EC-AAEB-43F8DAE0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E921C-A78C-4EEE-A516-A2CE570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E85A4F"/>
                </a:solidFill>
              </a:defRPr>
            </a:pPr>
            <a:r>
              <a:rPr sz="1050" b="1">
                <a:solidFill>
                  <a:srgbClr val="E85A4F"/>
                </a:solidFill>
              </a:rPr>
              <a:t>核心缺口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4619D-7B61-4113-B2F7-9E3A5BF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学习过程没有被结构化，也没有在每一步形成“示范—尝试—反馈—掌握”的闭环。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2101518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038990-8663-43BC-801C-74F9B88A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40759-AC6E-4CC6-B8D5-BF6D963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 / 解决方案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84070-7927-4DA2-B485-A0F0AAAF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1574F-4DD0-4034-8BC8-00CC40F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一套系统，连接教师发布与学生练习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B169E-BDA4-4AE1-8F71-97504A5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教师沉淀标准，学生逐步练习，数据再回到教学设计。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CF81C-C78E-4F9F-A8CC-902063DE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E85A4F"/>
                </a:solidFill>
              </a:defRPr>
            </a:pPr>
            <a:r>
              <a:rPr sz="975" b="1">
                <a:solidFill>
                  <a:srgbClr val="E85A4F"/>
                </a:solidFill>
              </a:rPr>
              <a:t>教师端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82DA8-9E88-4882-86CD-426D5E3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BAB79-B6E1-4542-9D1B-4E94DA45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74E0-89B9-4296-BC52-88A1C1B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导入完整示范视频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638FB-74DE-4A64-8B10-4A67FD3F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系统生成候选分段、步骤名称和完成条件。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D24DA-5332-4327-9779-011A006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78137-B01D-453F-A5BA-B7E41B0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8FA44-67AF-434E-9E47-7B295EF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校对并发布课程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FA3F0-3931-43B7-9F97-262C9F2F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3448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教师保留最终解释权，设置关键步骤与人工条件。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43FE7-7082-4DB0-8340-84BF4D7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A6A1"/>
                </a:solidFill>
              </a:defRPr>
            </a:pPr>
            <a:r>
              <a:rPr sz="975" b="1">
                <a:solidFill>
                  <a:srgbClr val="22A6A1"/>
                </a:solidFill>
              </a:rPr>
              <a:t>学生端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40842-F80C-4AE3-B2E4-1DDA7CB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407A8-8F89-49AE-BC9A-60470705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050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1D504-AC0B-49C8-ADAD-040A2BC6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看一步、练一步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D1AF1-644B-4454-A0EA-9F8AC710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354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摄像头采集操作结果，一次提交三帧核验。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1F455-320C-49C9-AC16-21B73BA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8EBF0-0F13-4D4A-909D-D7B4370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4AB73-43C7-4111-B434-F19B8014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正确前进，错误修正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177D7-F212-42B5-B41E-22192C6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354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完成后自动跳步；异常给出当前条件对应提示。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2C62D-A793-45F5-9AA6-69CD96A8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A40CB-9C7A-4E8C-9B26-4AEC7F6F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432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2C061-0894-430B-A299-5752E7BC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52800"/>
            <a:ext cx="125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SOP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62D23-8C04-4ED9-B49D-BBE2423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62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12A0E-61AD-41F8-8B55-E2A4F14E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623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E177C-6F3D-4D82-9379-8A195F28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19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23B"/>
                </a:solidFill>
              </a:defRPr>
            </a:pPr>
            <a:r>
              <a:rPr sz="1200" b="1">
                <a:solidFill>
                  <a:srgbClr val="17223B"/>
                </a:solidFill>
              </a:rPr>
              <a:t>学情反哺课程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00909-3F50-43F5-99B3-75223AFC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00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薄弱步骤 · 纠错次数 · 完成率 · 调用时延</a:t>
            </a:r>
          </a:p>
        </p:txBody>
      </p:sp>
    </p:spTree>
    <p:extLst>
      <p:ext uri="{BB962C8B-B14F-4D97-AF65-F5344CB8AC3E}">
        <p14:creationId xmlns:p14="http://schemas.microsoft.com/office/powerpoint/2010/main" val="1350735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29BF72-F729-49B1-B3CD-7616CAE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BFD3A-C2B1-43A5-90AF-5757DEF0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 / 教师备课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EE432-DB50-48E1-9202-65EDE73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15DF8-0C44-4C8B-B5B6-51111E47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从完整视频到可发布 SOP，教师只做关键校对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10474-6150-4D5C-A56E-BDF649BF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自动化负责提取候选结构，专业教师负责确认教学含义。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C5D50-604B-4E56-8163-B02C69F1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CC050-61D9-4DF6-9853-AC1FCD1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CE5F3-46B8-422C-8A46-3C0156E1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19375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9F69B-94C4-404E-BE13-3D6542C0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视频预处理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1355C-E98F-4089-A44D-6C6879AE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抽帧 / 音轨 / 时间轴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98CC8-EBF4-4BF0-84A7-DF39EBFA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6A4B7-63A7-4F57-864F-D3CC89F7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A4E9F-0ACE-4E5D-AF3E-DBDF32E7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19375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F656B-5036-40D7-95EC-DF79E7ED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候选分段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566E6-9487-43B3-9166-F282689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71875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识别动作与语义变化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594AE-9504-4312-800E-1FAB8FF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90F81-A045-4CB7-B40B-A75D62F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6E02C-EAF8-4994-8128-75E61CCF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19375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703A5-8198-45DA-9934-9CFC2C5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条件生成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B6D85-2E69-411A-AF4E-BE5DF880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写出可观察的完成条件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87B6B-8427-4E45-BDB8-7461C6DE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8486B-0593-4F60-8B9A-A8D7AC6D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F6D9C4-687B-44A4-A028-BC29A45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9ACDC-58E2-4626-BE5A-68801814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62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教师审核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D2AD4-3AA3-43B7-A8C7-ED0A6C99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71875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改步骤、关键帧和核验策略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476BC-8974-4CA7-9C6E-13866F2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0302F-3857-417E-9E4B-93208CA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45318-16B9-4EAB-A9F1-3F3C3A3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23B"/>
                </a:solidFill>
              </a:defRPr>
            </a:pPr>
            <a:r>
              <a:rPr sz="1425" b="1">
                <a:solidFill>
                  <a:srgbClr val="17223B"/>
                </a:solidFill>
              </a:rPr>
              <a:t>版本发布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AABD0-20A5-450D-A7D6-C932A3B1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71875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课程元数据 + SOP 留痕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B500D-DC52-47A6-A2C3-5F9081D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572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E5163-9FCC-418E-81F8-68C81062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2A6A1"/>
                </a:solidFill>
              </a:defRPr>
            </a:pPr>
            <a:r>
              <a:rPr sz="1125" b="1">
                <a:solidFill>
                  <a:srgbClr val="22A6A1"/>
                </a:solidFill>
              </a:rPr>
              <a:t>人机分工原则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F7B4AA-0D5B-44AC-A11E-FCE2B0ED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95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223B"/>
                </a:solidFill>
              </a:defRPr>
            </a:pPr>
            <a:r>
              <a:rPr sz="1650" b="1">
                <a:solidFill>
                  <a:srgbClr val="17223B"/>
                </a:solidFill>
              </a:rPr>
              <a:t>AI 给出候选，教师确认标准；系统不把自动分段当成已发布教学结论。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444F85-A866-47F5-A1A1-5A114709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53075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支持课程标题、目标、难度、受众、预计时长与版本记录。</a:t>
            </a:r>
          </a:p>
        </p:txBody>
      </p:sp>
    </p:spTree>
    <p:extLst>
      <p:ext uri="{BB962C8B-B14F-4D97-AF65-F5344CB8AC3E}">
        <p14:creationId xmlns:p14="http://schemas.microsoft.com/office/powerpoint/2010/main" val="1165245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9239E-FA03-4B13-87F4-7BD21593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9433C-AE5A-4A06-A77F-C7575701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 / 学生陪练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58840-41B6-45AA-BA17-BCA49CB5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14B09-7A25-4719-BCD1-B42D1BC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一次三帧核验，让普通步骤在 3–6 秒内给反馈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C07B1-1A3F-4CD0-9AC6-A68E4288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状态机确保“看不清、做错、做对”走向不同分支。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303CC-F78C-40AD-AA10-4E29CF7E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E6BAD-A72A-452C-8A79-0FD6BA8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FBD0C-FC5B-456B-8E00-ED7A874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约 1 秒</a:t>
            </a:r>
          </a:p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连续三帧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38DAB-D707-48FE-A76E-B473D28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0EF1D-C044-4D0C-948B-55F54BF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289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B7705-A030-4540-8B4C-247663B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575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核验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3E9BF-2E6F-45E1-890B-1F62E994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一次多模态</a:t>
            </a:r>
          </a:p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API 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B4010-E9E2-49D8-AA61-B21D8AC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B644E-A67F-4898-BDA5-3A0738D8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289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D4028-36D1-4399-8F7B-0A15525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575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DB437-BA36-458B-8115-8F9F54DB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记录完成</a:t>
            </a:r>
          </a:p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自动下一步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41934-A9AA-4896-A110-FD316496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EDF0B-7CE9-4EC6-AB0A-A324DE75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533B0-519C-4C27-B1DF-6F4EA393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修正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F6134-A66D-4956-8959-8A992C37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指出未满足</a:t>
            </a:r>
          </a:p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的具体条件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D08F8-BF60-4EA2-8E09-7148E1E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F0F7D-B514-4A58-ACBB-14229926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A17CC-66B7-4AAF-8E8A-CD3857E3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补拍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0EFC6-A25D-4395-AF4F-6F2A197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43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4 / 8 / 12 / 15 秒</a:t>
            </a:r>
          </a:p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递增等待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C87CE-D767-4901-929F-5EB191E1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922AF-9223-4172-9479-2FE81D0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62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satisfied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43C17-FF5E-41ED-8CD3-9F29AF9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B5C7C-C227-4540-8116-3E19E35D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62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violated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21F9A-09B6-4E77-8D81-50791FA7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8CE7D-63EC-4A40-A7F3-A686A97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62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7223B"/>
                </a:solidFill>
              </a:defRPr>
            </a:pPr>
            <a:r>
              <a:rPr sz="1050" b="1">
                <a:solidFill>
                  <a:srgbClr val="17223B"/>
                </a:solidFill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50833-FE9B-42D6-A2B0-EB0AE14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47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2BD30-24FD-4BA5-915E-2BEF974E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2C14E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2C14E"/>
                </a:solidFill>
              </a:defRPr>
            </a:pPr>
            <a:r>
              <a:rPr sz="1125" b="1">
                <a:solidFill>
                  <a:srgbClr val="F2C14E"/>
                </a:solidFill>
              </a:rPr>
              <a:t>关键步骤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99E29-CAD3-415A-B063-7FB0DAC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86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两轮新画面确认，目标 8–12 秒；拓扑、扭矩等难以仅凭视觉判断的条件交给教师人工确认。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36187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F7DEF-D046-4765-88AE-A6AD5FD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8801C-810B-41FD-9D01-2CA5A34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 / 通用能力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B0212-C1ED-4FF5-9804-E3CB9E73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96AE7-4BB9-47FE-B8D1-DEF265ED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通用性来自“完成条件”，而不是绑定某一种工种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77DFF-0237-4B88-BD57-655649A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每个步骤由可观察条件、核验方式与确认策略共同定义。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6B042-07E4-4A12-92D9-D3342C7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07FA6-BC50-4BD3-9127-5C1E1132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23B"/>
                </a:solidFill>
              </a:defRPr>
            </a:pPr>
            <a:r>
              <a:rPr sz="1875" b="1">
                <a:solidFill>
                  <a:srgbClr val="17223B"/>
                </a:solidFill>
              </a:rPr>
              <a:t>视觉条件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D7A9D-765B-4A87-8D71-357C4B2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位置、数量、朝向、完整度、装配关系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EFC75-A510-4449-B17C-77411CF6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87D92-56B2-420A-A5BD-F166CEC7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模型核验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4BF61-CA18-4FBC-A254-1BAFC28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65BC3-484A-469D-861B-9CE8B57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23B"/>
                </a:solidFill>
              </a:defRPr>
            </a:pPr>
            <a:r>
              <a:rPr sz="1875" b="1">
                <a:solidFill>
                  <a:srgbClr val="17223B"/>
                </a:solidFill>
              </a:rPr>
              <a:t>关键条件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A54CC-8258-4411-A697-6A7D86E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安全顺序、锁止状态、需要稳定重复观察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814B3-0F9C-4475-AB4C-FBC8C697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14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684D4-56E6-4F30-A4EC-BAFA4CCD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243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双确认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33C23-A9AB-4877-906E-B91B4619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288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9F6F5-D98E-495D-A20E-B1EFFE23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23B"/>
                </a:solidFill>
              </a:defRPr>
            </a:pPr>
            <a:r>
              <a:rPr sz="1875" b="1">
                <a:solidFill>
                  <a:srgbClr val="17223B"/>
                </a:solidFill>
              </a:rPr>
              <a:t>不可视条件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5B53B-C09A-49EA-ABB6-63C9DAD9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扭矩、内部结构、触感或专业责任判断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E2EE3-8A38-430D-99AE-6E8EEFF0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BD7BD-00F2-4DD3-A222-68125ED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243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7223B"/>
                </a:solidFill>
              </a:defRPr>
            </a:pPr>
            <a:r>
              <a:rPr sz="1050" b="1">
                <a:solidFill>
                  <a:srgbClr val="17223B"/>
                </a:solidFill>
              </a:rPr>
              <a:t>人工确认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C1AAC-D523-47B9-A94C-47B3F175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B2EC2-7AB6-48AD-A105-337CD93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可迁移案例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BAB8A-DEB9-40FF-90D3-A1B6F0E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手工制作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753DF-BE98-492F-8DE0-5221A5AF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19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实验操作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C0901-8057-4426-B08D-DC9C723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19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设备点检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E61E9-9F96-4A9D-AE49-9715E8E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9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急救训练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F96AA-F4AF-4B3A-AF4A-6C16E70D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19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223B"/>
                </a:solidFill>
              </a:defRPr>
            </a:pPr>
            <a:r>
              <a:rPr sz="1500" b="1">
                <a:solidFill>
                  <a:srgbClr val="17223B"/>
                </a:solidFill>
              </a:rPr>
              <a:t>职业技能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592A5-16A0-4BDD-B888-09E46B67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E85A4F"/>
                </a:solidFill>
              </a:defRPr>
            </a:pPr>
            <a:r>
              <a:rPr sz="1050" b="1">
                <a:solidFill>
                  <a:srgbClr val="E85A4F"/>
                </a:solidFill>
              </a:rPr>
              <a:t>边界：当前原型验证的是技术闭环；跨场景准确率需要独立学员与现场数据继续评估。</a:t>
            </a:r>
          </a:p>
        </p:txBody>
      </p:sp>
    </p:spTree>
    <p:extLst>
      <p:ext uri="{BB962C8B-B14F-4D97-AF65-F5344CB8AC3E}">
        <p14:creationId xmlns:p14="http://schemas.microsoft.com/office/powerpoint/2010/main" val="843706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E197C-B5A5-4E90-9E80-0E9B7001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CEA67-99FA-46DA-A991-EA09E85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 / 产品原型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6BE6F-F343-48BF-9B44-D5C88808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14E3-8106-4B55-8716-8834C5E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教师在同一网页完成拆解、校对与发布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9579B-4D28-469E-8ADC-EC02EB3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桌面端已实现课程元数据、步骤时间轴、完成条件和版本管理。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EC3F5-4432-473B-8561-B56BD6D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786765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819D5-D2F6-42B2-95C7-9AA4B45AA1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76e0ab05b498b"/>
          <a:stretch xmlns:a="http://schemas.openxmlformats.org/drawingml/2006/main"/>
        </p:blipFill>
        <p:spPr>
          <a:xfrm xmlns:a="http://schemas.openxmlformats.org/drawingml/2006/main">
            <a:off x="1824609" y="2095500"/>
            <a:ext cx="5513832" cy="3829050"/>
          </a:xfrm>
          <a:prstGeom xmlns:a="http://schemas.openxmlformats.org/drawingml/2006/main" prst="roundRect">
            <a:avLst>
              <a:gd name="adj" fmla="val 199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427B2-587D-4081-AE16-D1521D41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23B"/>
                </a:solidFill>
              </a:defRPr>
            </a:pPr>
            <a:r>
              <a:rPr sz="1575" b="1">
                <a:solidFill>
                  <a:srgbClr val="17223B"/>
                </a:solidFill>
              </a:rPr>
              <a:t>发布前检查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C20F9-AE83-4376-B4C5-8B2FE76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A5389-B61F-428F-AF0B-6817849C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步骤名称与顺序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21B80-A99B-4E6F-A027-E4CBB339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5706A-AB1F-41BF-A052-4DB50ABC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52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每步完成条件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CA893-C517-4703-8CC7-CE9C56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50CC4-71E2-4757-8368-9089BE9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关键帧与示范片段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F6FCE-B517-4C35-8B2F-D60B43B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17612-874A-48E2-941E-2F99FF1C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普通 / 关键 / 人工核验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4EBB0-CB01-41A7-87F5-0CB1E4B3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0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9D7ED-DF0E-45CB-9B30-DADDD86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53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课程目标与适用人群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25FC6-EF8F-4CCF-BA12-CEC71726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E85A4F"/>
                </a:solidFill>
              </a:defRPr>
            </a:pPr>
            <a:r>
              <a:rPr sz="1200" b="1">
                <a:solidFill>
                  <a:srgbClr val="E85A4F"/>
                </a:solidFill>
              </a:rPr>
              <a:t>教师始终拥有最终发布权</a:t>
            </a:r>
          </a:p>
        </p:txBody>
      </p:sp>
    </p:spTree>
    <p:extLst>
      <p:ext uri="{BB962C8B-B14F-4D97-AF65-F5344CB8AC3E}">
        <p14:creationId xmlns:p14="http://schemas.microsoft.com/office/powerpoint/2010/main" val="2024779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CB1DB-8697-4605-9627-B835657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15D44-F1D4-4889-8288-8D6C8F3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 / 学情闭环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B5D63-065A-4A6D-9004-2505E567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31B64-96FC-455A-A1AD-9884BD8B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每次练习都留下可追踪的步骤证据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86A7F-0293-44B7-93A0-97D7F8A5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学生看到个人复盘；教师看到班级薄弱步骤与服务时延。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9A98B-7F87-4A42-B088-084C06B5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53721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CF169-4A23-4611-91F7-C24962F68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7066b88084f9d"/>
          <a:stretch xmlns:a="http://schemas.openxmlformats.org/drawingml/2006/main"/>
        </p:blipFill>
        <p:spPr>
          <a:xfrm xmlns:a="http://schemas.openxmlformats.org/drawingml/2006/main">
            <a:off x="1702524" y="2095500"/>
            <a:ext cx="3071953" cy="3257550"/>
          </a:xfrm>
          <a:prstGeom xmlns:a="http://schemas.openxmlformats.org/drawingml/2006/main" prst="roundRect">
            <a:avLst>
              <a:gd name="adj" fmla="val 23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D2BB2-842C-46D8-B2FC-8F4D03AC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53721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F39EE-14EA-4864-ACCD-12B17994B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7181b734541ff"/>
          <a:stretch xmlns:a="http://schemas.openxmlformats.org/drawingml/2006/main"/>
        </p:blipFill>
        <p:spPr>
          <a:xfrm xmlns:a="http://schemas.openxmlformats.org/drawingml/2006/main">
            <a:off x="6510338" y="2095500"/>
            <a:ext cx="4886325" cy="3257550"/>
          </a:xfrm>
          <a:prstGeom xmlns:a="http://schemas.openxmlformats.org/drawingml/2006/main" prst="roundRect">
            <a:avLst>
              <a:gd name="adj" fmla="val 233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FA413-AA35-473A-9792-6CC3AC17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CB089-7847-4A18-8C47-578A3C79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34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学生结课报告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39AD5-23D4-4FF5-8F52-C4597F0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完成率 · 纠错次数 · 步骤耗时 · 建议复习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55C8F-CD26-4634-BCEF-4914BF35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45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01D5C-7815-4A1C-A370-CB96A4F2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34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教师学情看板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B4475-8852-4FA4-A334-DC5EA44B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43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班级概览 · 薄弱步骤 · 个体报告 · API 时延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EDBD1-8798-4299-ABC0-2015688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34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E85A4F"/>
                </a:solidFill>
              </a:defRPr>
            </a:pPr>
            <a:r>
              <a:rPr sz="975" b="1">
                <a:solidFill>
                  <a:srgbClr val="E85A4F"/>
                </a:solidFill>
              </a:rPr>
              <a:t>练习指数仅由系统记录生成，用于反馈，不等同于标准化考试成绩。</a:t>
            </a:r>
          </a:p>
        </p:txBody>
      </p:sp>
    </p:spTree>
    <p:extLst>
      <p:ext uri="{BB962C8B-B14F-4D97-AF65-F5344CB8AC3E}">
        <p14:creationId xmlns:p14="http://schemas.microsoft.com/office/powerpoint/2010/main" val="262455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99143C-3F80-4A35-AE36-4EEB255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2824E-0BBD-4185-9DD1-AED9FE75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 / 技术验证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442C4-E3BC-4C24-A937-05990907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919BC-7157-4926-8311-40F0EED9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三个不同技能案例，验证同一条状态机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1DA90-0E6B-47F9-A018-614F094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数据来自公开教学视频的同源帧回放；它证明链路可运行，不代表真实学习准确率。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6BBB8-CFDA-4333-BD10-5EA78A2B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0DE1E-9490-49A4-8DFB-BD547C7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案例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C013C-8BE7-4E45-A394-418419A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33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核验规模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2DE99-A1CA-4938-8011-E10363E0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65E18-FAE8-4A11-932F-E75F5874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API 平均时延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8DFE6-A2CC-4C8B-98F0-60B39BF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验证重点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E3D6A-2EBC-411E-86F7-41912CA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083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33D7E-49B7-45F0-9517-365C83D4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23B"/>
                </a:solidFill>
              </a:defRPr>
            </a:pPr>
            <a:r>
              <a:rPr sz="1125" b="1">
                <a:solidFill>
                  <a:srgbClr val="17223B"/>
                </a:solidFill>
              </a:rPr>
              <a:t>系鞋带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28730-7114-4E4F-AD8A-D16F7156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24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23B"/>
                </a:solidFill>
              </a:defRPr>
            </a:pPr>
            <a:r>
              <a:rPr sz="1125" b="0">
                <a:solidFill>
                  <a:srgbClr val="17223B"/>
                </a:solidFill>
              </a:rPr>
              <a:t>4 步 / 5 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24B75-2EDE-4893-AA86-67A8855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24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23B"/>
                </a:solidFill>
              </a:defRPr>
            </a:pPr>
            <a:r>
              <a:rPr sz="1125" b="1">
                <a:solidFill>
                  <a:srgbClr val="17223B"/>
                </a:solidFill>
              </a:rPr>
              <a:t>5/5 符合预期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06C70-B88A-45DB-A903-63AED296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85A4F"/>
                </a:solidFill>
              </a:defRPr>
            </a:pPr>
            <a:r>
              <a:rPr sz="1500" b="1">
                <a:solidFill>
                  <a:srgbClr val="E85A4F"/>
                </a:solidFill>
              </a:rPr>
              <a:t>3.24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2E093-35A1-4E37-8882-A7507756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23B"/>
                </a:solidFill>
              </a:defRPr>
            </a:pPr>
            <a:r>
              <a:rPr sz="1125" b="0">
                <a:solidFill>
                  <a:srgbClr val="17223B"/>
                </a:solidFill>
              </a:rPr>
              <a:t>一次三帧通过即跳步；遮挡补拍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AEB4C-4C1C-4736-985D-1E4889D2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23B"/>
                </a:solidFill>
              </a:defRPr>
            </a:pPr>
            <a:r>
              <a:rPr sz="1125" b="1">
                <a:solidFill>
                  <a:srgbClr val="17223B"/>
                </a:solidFill>
              </a:rPr>
              <a:t>折纸杯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99302-3226-4724-98F9-1F4E4370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04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23B"/>
                </a:solidFill>
              </a:defRPr>
            </a:pPr>
            <a:r>
              <a:rPr sz="1125" b="0">
                <a:solidFill>
                  <a:srgbClr val="17223B"/>
                </a:solidFill>
              </a:rPr>
              <a:t>5 步 / 15 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125C-5A9B-4CD2-B70A-8825AF96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23B"/>
                </a:solidFill>
              </a:defRPr>
            </a:pPr>
            <a:r>
              <a:rPr sz="1125" b="1">
                <a:solidFill>
                  <a:srgbClr val="17223B"/>
                </a:solidFill>
              </a:rPr>
              <a:t>15/15 符合预期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5F43E-0BFC-472D-8234-D0D48F76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85A4F"/>
                </a:solidFill>
              </a:defRPr>
            </a:pPr>
            <a:r>
              <a:rPr sz="1500" b="1">
                <a:solidFill>
                  <a:srgbClr val="E85A4F"/>
                </a:solidFill>
              </a:rPr>
              <a:t>4.34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331B9-A360-44A0-AB2D-A4AC242B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23B"/>
                </a:solidFill>
              </a:defRPr>
            </a:pPr>
            <a:r>
              <a:rPr sz="1125" b="0">
                <a:solidFill>
                  <a:srgbClr val="17223B"/>
                </a:solidFill>
              </a:rPr>
              <a:t>多步骤状态机；素材仅本地 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9A490-BBE8-46D1-AC73-36A426E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083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7E404-B7D4-4C60-902E-91E1F142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23B"/>
                </a:solidFill>
              </a:defRPr>
            </a:pPr>
            <a:r>
              <a:rPr sz="1125" b="1">
                <a:solidFill>
                  <a:srgbClr val="17223B"/>
                </a:solidFill>
              </a:rPr>
              <a:t>单套结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3176C-8DF2-4FCD-B289-3F4B6345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23B"/>
                </a:solidFill>
              </a:defRPr>
            </a:pPr>
            <a:r>
              <a:rPr sz="1125" b="0">
                <a:solidFill>
                  <a:srgbClr val="17223B"/>
                </a:solidFill>
              </a:rPr>
              <a:t>前 2 步 / 6 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425C5-ECE3-4B43-A675-9D8BD153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767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23B"/>
                </a:solidFill>
              </a:defRPr>
            </a:pPr>
            <a:r>
              <a:rPr sz="1125" b="1">
                <a:solidFill>
                  <a:srgbClr val="17223B"/>
                </a:solidFill>
              </a:rPr>
              <a:t>关键步骤双确认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057488-CB1C-411A-9117-52F893D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85A4F"/>
                </a:solidFill>
              </a:defRPr>
            </a:pPr>
            <a:r>
              <a:rPr sz="1500" b="1">
                <a:solidFill>
                  <a:srgbClr val="E85A4F"/>
                </a:solidFill>
              </a:rPr>
              <a:t>5.06 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59A24-4B64-4FB1-9883-68A39F0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7223B"/>
                </a:solidFill>
              </a:defRPr>
            </a:pPr>
            <a:r>
              <a:rPr sz="1125" b="0">
                <a:solidFill>
                  <a:srgbClr val="17223B"/>
                </a:solidFill>
              </a:rPr>
              <a:t>视觉 + 人工条件；未跑完整课程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CABFB-4AB2-4D2E-A717-F92D8D0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63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92D21-339A-4468-BCF1-0C81188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E85A4F"/>
                </a:solidFill>
              </a:defRPr>
            </a:pPr>
            <a:r>
              <a:rPr sz="1050" b="1">
                <a:solidFill>
                  <a:srgbClr val="E85A4F"/>
                </a:solidFill>
              </a:rPr>
              <a:t>证据边界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68D3D-5362-4876-8392-EB1B8E0E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62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23B"/>
                </a:solidFill>
              </a:defRPr>
            </a:pPr>
            <a:r>
              <a:rPr sz="1350" b="1">
                <a:solidFill>
                  <a:srgbClr val="17223B"/>
                </a:solidFill>
              </a:rPr>
              <a:t>尚未开展真人学习效果实验；下一阶段用独立摄像头、不同学员和现场光照验证准确率与教学增益。</a:t>
            </a:r>
          </a:p>
        </p:txBody>
      </p:sp>
    </p:spTree>
    <p:extLst>
      <p:ext uri="{BB962C8B-B14F-4D97-AF65-F5344CB8AC3E}">
        <p14:creationId xmlns:p14="http://schemas.microsoft.com/office/powerpoint/2010/main" val="1079761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4F4891-53B4-491C-B423-418823E5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E9B6F-EE72-4AFB-A066-0551F499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 / 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88F7B-1B8B-4202-BB2C-2AA0522E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8A740-3CF6-4AAF-A18B-3D787CB9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本地状态机保证流程，云端模型提供视觉判断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4673A-14C1-45D8-84E4-DC49C11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API 只负责理解多帧画面；步骤推进、重试和审计由系统自己控制。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03D8D-21FE-4DDB-8C2C-9902E51E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2A6A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A1CD0-D2A4-43D6-B4A0-8DDE9128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21B25-E747-4A5E-894E-D554B9EF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浏览器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09C82-9A8A-4967-A41C-69C8F448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Vue 3</a:t>
            </a:r>
          </a:p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教师端 / 学生端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04508-8851-4593-8438-54BB605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D6B20-DB7B-44A2-BD93-9F02C96F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B2B39-98F2-4BCB-B4A5-A31D895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39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5AF0E-07B1-405D-B15A-F11A6A2B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43664-5A59-4C0C-A662-1CC5CA88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431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应用服务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F5DE4-4B66-4B2D-B254-D2D2F4FD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FastAPI</a:t>
            </a:r>
          </a:p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权限 / 课程 / 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0D111-BE8C-4D3E-9124-3B6FD8F5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B2C0C-3B98-42F2-9B30-E7EDC763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1A54C-DFB2-40AB-83E3-D1D2CBA1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4315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85A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EBEF6-8A8C-414C-B01D-A98D3AC2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33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3BB91-26D3-4097-A5A8-FD78FEA2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431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流程内核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D5C7A-B43E-4C0C-B103-7E0BB1F8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SOP 状态机</a:t>
            </a:r>
          </a:p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校验 / 重试 / 跳步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5C37B-F502-47B7-BAC8-BAB12CEE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544D9-86B0-48DF-B795-E38169D2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EC221-82A9-4373-82A9-C1C5FF51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5794F-D0D5-4D2E-8CC0-F515337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F0E1D-1F00-4C1F-9B24-CD47AE7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7223B"/>
                </a:solidFill>
              </a:defRPr>
            </a:pPr>
            <a:r>
              <a:rPr sz="1050" b="1">
                <a:solidFill>
                  <a:srgbClr val="17223B"/>
                </a:solidFill>
              </a:rPr>
              <a:t>视觉能力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21F5D-A778-4D02-888A-29312B40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兼容多模态 API</a:t>
            </a:r>
          </a:p>
          <a:p xmlns:a="http://schemas.openxmlformats.org/drawingml/2006/main">
            <a:pPr algn="ctr"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一次三帧判断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8F646-4B64-481D-A9DF-A7C33E8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43150"/>
            <a:ext cx="971550" cy="15240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21D41-51D7-401F-AB00-0808C7E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38450"/>
            <a:ext cx="971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审计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收据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2B849-9668-47AB-8D58-7DDD8C4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70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5C211-7075-48BC-850F-DFA9B66C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0C39A4-5046-42E9-A390-E06A5CB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23B"/>
                </a:solidFill>
              </a:defRPr>
            </a:pPr>
            <a:r>
              <a:rPr sz="1350" b="1">
                <a:solidFill>
                  <a:srgbClr val="17223B"/>
                </a:solidFill>
              </a:rPr>
              <a:t>断网或模型异常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B25A2-EC81-4294-92F6-F35B34D6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停在原步骤并提示，不伪造通过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EA0F1E-56C7-4304-ABA7-3B29D18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482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C290C9-B486-49AE-A6B0-57DE460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23B"/>
                </a:solidFill>
              </a:defRPr>
            </a:pPr>
            <a:r>
              <a:rPr sz="1350" b="1">
                <a:solidFill>
                  <a:srgbClr val="17223B"/>
                </a:solidFill>
              </a:rPr>
              <a:t>关键/安全动作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783906-A6AE-4A11-A490-18CC763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两次新画面确认或教师人工确认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54B946-5098-4533-8A30-30E4968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A84A9D-661F-4FAC-9DC4-F16CFECD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23B"/>
                </a:solidFill>
              </a:defRPr>
            </a:pPr>
            <a:r>
              <a:rPr sz="1350" b="1">
                <a:solidFill>
                  <a:srgbClr val="17223B"/>
                </a:solidFill>
              </a:rPr>
              <a:t>可复现实验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BEFC95-0947-477C-BFF6-82C4A0D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38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输入、结果、时延和版本统一留痕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006B11-25D8-41BE-852A-B0CB929D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开源技术栈：FastAPI · SQLAlchemy · Vue 3 · Playwright · ONNX Runtime · MediaPipe</a:t>
            </a:r>
          </a:p>
        </p:txBody>
      </p:sp>
    </p:spTree>
    <p:extLst>
      <p:ext uri="{BB962C8B-B14F-4D97-AF65-F5344CB8AC3E}">
        <p14:creationId xmlns:p14="http://schemas.microsoft.com/office/powerpoint/2010/main" val="77197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4443B-4D59-47A2-A2F0-01BB74A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AFAB1-CD99-4FD5-AA0E-6D4D1CBB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 / 参赛价值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F3C04-7BDC-473B-9AD4-103ECC9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8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25685-1345-471D-8FF7-C0C5F9E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23B"/>
                </a:solidFill>
              </a:defRPr>
            </a:pPr>
            <a:r>
              <a:rPr sz="3000" b="1">
                <a:solidFill>
                  <a:srgbClr val="17223B"/>
                </a:solidFill>
              </a:rPr>
              <a:t>P0 已形成可演示闭环，P1 已补齐赛场可靠性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90779-95F6-4780-84A4-22D4F072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当前成果能完整讲清教育价值，也保留了下一步可验证的研究问题。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00A2C-FB5D-484F-8789-A9FA21B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E85A4F"/>
                </a:solidFill>
              </a:defRPr>
            </a:pPr>
            <a:r>
              <a:rPr sz="975" b="1">
                <a:solidFill>
                  <a:srgbClr val="E85A4F"/>
                </a:solidFill>
              </a:rPr>
              <a:t>P0 · 核心闭环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C840A-0C5A-46F7-B2E9-9E85BA81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0EA77-1313-4743-88F9-4EA5D5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793F7-3CD8-4674-83A2-58EAAB2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视频生成候选 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20F3F-A329-46B6-B7E9-410008B9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B5A65-35B3-4EA1-8D28-58F0C42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C066F-7BA8-486A-A24D-3195A05B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教师校对并发布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6BD6A-22D7-4FC6-8B2B-3994BA98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384A4-E4BC-403F-A1A9-3F7B113D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DF12A-2CA9-4855-B366-80E4173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学生逐步核验与跳步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18D31-7DED-48BD-9AED-EB7A13E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DFF30-DBED-42F8-A907-D652CAC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005E7-674B-469A-BB0D-F6E6C17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完成报告与薄弱步骤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E5D18-87FB-4C14-8273-1E4DAC7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2A6A1"/>
                </a:solidFill>
              </a:defRPr>
            </a:pPr>
            <a:r>
              <a:rPr sz="975" b="1">
                <a:solidFill>
                  <a:srgbClr val="22A6A1"/>
                </a:solidFill>
              </a:rPr>
              <a:t>P1 · 比赛可靠性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B8A9B-71DB-47B0-A32E-6958296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C3F93-4D1E-46D1-AC69-20FCC283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B97AC-B9DC-4560-A9BF-217A49AE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14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一键准备 / 启停脚本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644AD-787B-46AD-A828-D9FBF70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95977-ABD7-43BD-8B6B-F9CF7047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3340B-D26C-4498-8ADB-16B3B4D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教师、学生、观察员角色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71206-4901-4640-BB09-282788DE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1274D-6D63-4521-BC38-A1107DB5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BFFF1-041C-40A6-87E0-627967E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模型收据与时延审计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53F80-0E94-4858-867C-014746A9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71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B535EE-3E07-420A-8416-E6A94A9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71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58D21-118D-4A89-8596-10DC50A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223B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223B"/>
                </a:solidFill>
              </a:defRPr>
            </a:pPr>
            <a:r>
              <a:rPr sz="1275" b="1">
                <a:solidFill>
                  <a:srgbClr val="17223B"/>
                </a:solidFill>
              </a:rPr>
              <a:t>API 故障提示与工程回放标识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04A4B-56AD-4462-9532-FE087DEA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19300"/>
            <a:ext cx="27241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7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958E8-ABD3-43A6-86A2-B352F02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下一阶段验证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A813D5-7D8F-433C-8641-02A00E3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2C14E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2C14E"/>
                </a:solidFill>
              </a:defRPr>
            </a:pPr>
            <a:r>
              <a:rPr sz="1350" b="1">
                <a:solidFill>
                  <a:srgbClr val="F2C14E"/>
                </a:solidFill>
              </a:rPr>
              <a:t>20+ 学员 × 3 类技能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CB88E8-89C9-487D-A0FA-DC6DF842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133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D9E0E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D9E0EC"/>
                </a:solidFill>
              </a:defRPr>
            </a:pPr>
            <a:r>
              <a:rPr sz="1125" b="0">
                <a:solidFill>
                  <a:srgbClr val="D9E0EC"/>
                </a:solidFill>
              </a:rPr>
              <a:t>比较“普通视频学习”与“逐步陪练”的完成时间、求助次数与步骤错误。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89EE6D-E160-46C2-8175-19AA370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2255D8-D712-42DF-921E-7447457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85A4F"/>
                </a:solidFill>
              </a:defRPr>
            </a:pPr>
            <a:r>
              <a:rPr sz="3150" b="1">
                <a:solidFill>
                  <a:srgbClr val="E85A4F"/>
                </a:solidFill>
              </a:rPr>
              <a:t>367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469DA-DC21-40C1-96CE-2646AF9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后端自动化测试通过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E522A1-49B9-4DF5-A98D-C03C2470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34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2A6A1"/>
                </a:solidFill>
              </a:defRPr>
            </a:pPr>
            <a:r>
              <a:rPr sz="3150" b="1">
                <a:solidFill>
                  <a:srgbClr val="22A6A1"/>
                </a:solidFill>
              </a:rPr>
              <a:t>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98FEE8-4D6F-4D81-85E6-C171FCC4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86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前端单元测试通过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BFB05B-04FC-4AF3-A109-8CB8FDE9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A9D72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3A9D72"/>
                </a:solidFill>
              </a:defRPr>
            </a:pPr>
            <a:r>
              <a:rPr sz="3150" b="1">
                <a:solidFill>
                  <a:srgbClr val="3A9D72"/>
                </a:solidFill>
              </a:rPr>
              <a:t>2/2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2F5CF6-3337-476D-B979-5789BC30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86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桌面浏览器关键路径通过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90386-4393-4B4E-8240-81DAEFFD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34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2C14E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2C14E"/>
                </a:solidFill>
              </a:defRPr>
            </a:pPr>
            <a:r>
              <a:rPr sz="3150" b="1">
                <a:solidFill>
                  <a:srgbClr val="F2C14E"/>
                </a:solidFill>
              </a:rPr>
              <a:t>1 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DA8468-1E93-4424-9695-EEAF5E30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86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7085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赛场环境准备与启动</a:t>
            </a:r>
          </a:p>
        </p:txBody>
      </p:sp>
    </p:spTree>
    <p:extLst>
      <p:ext uri="{BB962C8B-B14F-4D97-AF65-F5344CB8AC3E}">
        <p14:creationId xmlns:p14="http://schemas.microsoft.com/office/powerpoint/2010/main" val="354701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789F1-F472-49FF-97FB-F10EE723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DA989-2B8E-4651-A582-C7399067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85A4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5A4F"/>
                </a:solidFill>
              </a:defRPr>
            </a:pPr>
            <a:r>
              <a:rPr sz="1350" b="1">
                <a:solidFill>
                  <a:srgbClr val="E85A4F"/>
                </a:solidFill>
              </a:rPr>
              <a:t>工序智传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5BB9D-6E3C-4F01-9336-0024637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810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让每一段示范视频，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都能陪学生练到下一步。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A9F9C-A659-4AE4-9CB3-210914ED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F0CBB-B6FD-4A55-94CD-4C723E1A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5949F-6E76-4BB2-AA72-505FE35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教师发布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26962-619F-40E0-8BC5-F1F91EF3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C3D4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9C3D4"/>
                </a:solidFill>
              </a:defRPr>
            </a:pPr>
            <a:r>
              <a:rPr sz="1050" b="0">
                <a:solidFill>
                  <a:srgbClr val="B9C3D4"/>
                </a:solidFill>
              </a:rPr>
              <a:t>导入视频 → 校对 SOP → 发布课程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D8FF9-FF59-4430-BEF8-944C8014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29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7C6F4-2891-4A65-98DB-62C5321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91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学生练习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446C5-02FB-41A0-8142-2702FD7B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29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C3D4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9C3D4"/>
                </a:solidFill>
              </a:defRPr>
            </a:pPr>
            <a:r>
              <a:rPr sz="1050" b="0">
                <a:solidFill>
                  <a:srgbClr val="B9C3D4"/>
                </a:solidFill>
              </a:rPr>
              <a:t>三帧核验 → 修正或自动跳步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00C1A-8323-4D1B-AED0-4051AFF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29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22A6A1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2A6A1"/>
                </a:solidFill>
              </a:defRPr>
            </a:pPr>
            <a:r>
              <a:rPr sz="1050" b="1">
                <a:solidFill>
                  <a:srgbClr val="22A6A1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3DB4B-7BAB-44E7-81E1-4BF51DFA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91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教师复盘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5D2F7-C575-445C-BAE1-97BEC1FF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29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C3D4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9C3D4"/>
                </a:solidFill>
              </a:defRPr>
            </a:pPr>
            <a:r>
              <a:rPr sz="1050" b="0">
                <a:solidFill>
                  <a:srgbClr val="B9C3D4"/>
                </a:solidFill>
              </a:rPr>
              <a:t>查看薄弱步骤与个人报告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0DFF2-2E43-4AC2-9C23-D042802B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9AD5F-9F2D-4731-9D05-C64795A2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现场演示约 5 分钟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0353F-4128-4262-876A-420F709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022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9B4C8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A9B4C8"/>
                </a:solidFill>
              </a:defRPr>
            </a:pPr>
            <a:r>
              <a:rPr sz="975" b="0">
                <a:solidFill>
                  <a:srgbClr val="A9B4C8"/>
                </a:solidFill>
              </a:rPr>
              <a:t>本材料由 AI 辅助整理；产品数据来自系统日志与自动化测试，未使用真人学习效果数据。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13F77-CD0A-4F6D-B19D-C29D2B41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A9B4C8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A9B4C8"/>
                </a:solidFill>
              </a:defRPr>
            </a:pPr>
            <a:r>
              <a:rPr sz="900" b="1">
                <a:solidFill>
                  <a:srgbClr val="A9B4C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0869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2026-10-15T06:58:17.8460000Z</dcterms:created>
  <dcterms:modified xsi:type="dcterms:W3CDTF">2026-10-15T06:58:17.8460000Z</dcterms:modified>
</coreProperties>
</file>